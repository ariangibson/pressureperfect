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0" y="0"/>
            <a:ext cx="4419295"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132320" y="0"/>
            <a:ext cx="3657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6858000" cy="1371600"/>
          </a:xfrm>
          <a:prstGeom prst="rect">
            <a:avLst/>
          </a:prstGeom>
          <a:noFill/>
        </p:spPr>
        <p:txBody>
          <a:bodyPr wrap="square">
            <a:spAutoFit/>
          </a:bodyPr>
          <a:lstStyle/>
          <a:p>
            <a:pPr>
              <a:defRPr sz="6600" b="1">
                <a:solidFill>
                  <a:srgbClr val="FFFFFF"/>
                </a:solidFill>
                <a:latin typeface="Calibri Light"/>
              </a:defRPr>
            </a:pPr>
            <a:r>
              <a:t>Apex Academy</a:t>
            </a:r>
          </a:p>
        </p:txBody>
      </p:sp>
      <p:sp>
        <p:nvSpPr>
          <p:cNvPr id="6" name="TextBox 5"/>
          <p:cNvSpPr txBox="1"/>
          <p:nvPr/>
        </p:nvSpPr>
        <p:spPr>
          <a:xfrm>
            <a:off x="640080" y="3017520"/>
            <a:ext cx="6858000" cy="914400"/>
          </a:xfrm>
          <a:prstGeom prst="rect">
            <a:avLst/>
          </a:prstGeom>
          <a:noFill/>
        </p:spPr>
        <p:txBody>
          <a:bodyPr wrap="square">
            <a:spAutoFit/>
          </a:bodyPr>
          <a:lstStyle/>
          <a:p>
            <a:pPr>
              <a:defRPr sz="4000">
                <a:solidFill>
                  <a:srgbClr val="FB923C"/>
                </a:solidFill>
                <a:latin typeface="Calibri Light"/>
              </a:defRPr>
            </a:pPr>
            <a:r>
              <a:t>of Preparatory Excellence</a:t>
            </a:r>
          </a:p>
        </p:txBody>
      </p:sp>
      <p:sp>
        <p:nvSpPr>
          <p:cNvPr id="7" name="TextBox 6"/>
          <p:cNvSpPr txBox="1"/>
          <p:nvPr/>
        </p:nvSpPr>
        <p:spPr>
          <a:xfrm>
            <a:off x="640080" y="4023360"/>
            <a:ext cx="6858000" cy="731520"/>
          </a:xfrm>
          <a:prstGeom prst="rect">
            <a:avLst/>
          </a:prstGeom>
          <a:noFill/>
        </p:spPr>
        <p:txBody>
          <a:bodyPr wrap="square">
            <a:spAutoFit/>
          </a:bodyPr>
          <a:lstStyle/>
          <a:p>
            <a:pPr>
              <a:defRPr sz="2200">
                <a:solidFill>
                  <a:srgbClr val="FFFFFF"/>
                </a:solidFill>
                <a:latin typeface="Calibri"/>
              </a:defRPr>
            </a:pPr>
            <a:r>
              <a:t>Ideal School Design: Concept &amp; Reflection</a:t>
            </a:r>
          </a:p>
        </p:txBody>
      </p:sp>
      <p:sp>
        <p:nvSpPr>
          <p:cNvPr id="8" name="Rounded Rectangle 7"/>
          <p:cNvSpPr/>
          <p:nvPr/>
        </p:nvSpPr>
        <p:spPr>
          <a:xfrm>
            <a:off x="640080" y="5029200"/>
            <a:ext cx="4572000" cy="640080"/>
          </a:xfrm>
          <a:prstGeom prst="roundRect">
            <a:avLst/>
          </a:prstGeom>
          <a:solidFill>
            <a:srgbClr val="FFFFFF"/>
          </a:solidFill>
          <a:ln w="254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120640"/>
            <a:ext cx="4206240" cy="457200"/>
          </a:xfrm>
          <a:prstGeom prst="rect">
            <a:avLst/>
          </a:prstGeom>
          <a:noFill/>
        </p:spPr>
        <p:txBody>
          <a:bodyPr wrap="none">
            <a:spAutoFit/>
          </a:bodyPr>
          <a:lstStyle/>
          <a:p>
            <a:pPr algn="ctr">
              <a:defRPr sz="2000" b="1">
                <a:solidFill>
                  <a:srgbClr val="1E3C8A"/>
                </a:solidFill>
                <a:latin typeface="Calibri"/>
              </a:defRPr>
            </a:pPr>
            <a:r>
              <a:t>By: Cameron L. &amp; Alex 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A</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Identity &amp; Environment</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Foundation of Culture, Space &amp; Community</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School Identity: Name &amp; Mascot</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Official Name: Apex Academy of Preparatory Excellence</a:t>
            </a:r>
          </a:p>
          <a:p>
            <a:pPr>
              <a:spcBef>
                <a:spcPts val="1000"/>
              </a:spcBef>
              <a:spcAft>
                <a:spcPts val="600"/>
              </a:spcAft>
              <a:defRPr sz="1800">
                <a:solidFill>
                  <a:srgbClr val="111827"/>
                </a:solidFill>
                <a:latin typeface="Calibri"/>
              </a:defRPr>
            </a:pPr>
            <a:r>
              <a:t>• Mascot: A distinguished penguin wearing a monocle</a:t>
            </a:r>
          </a:p>
          <a:p>
            <a:pPr>
              <a:spcBef>
                <a:spcPts val="1000"/>
              </a:spcBef>
              <a:spcAft>
                <a:spcPts val="600"/>
              </a:spcAft>
              <a:defRPr sz="1800">
                <a:solidFill>
                  <a:srgbClr val="111827"/>
                </a:solidFill>
                <a:latin typeface="Calibri"/>
              </a:defRPr>
            </a:pPr>
            <a:r>
              <a:t>• Symbolism: The monocle represents intelligence, academic integrity, and scholarly tradition</a:t>
            </a:r>
          </a:p>
          <a:p>
            <a:pPr>
              <a:spcBef>
                <a:spcPts val="1000"/>
              </a:spcBef>
              <a:spcAft>
                <a:spcPts val="600"/>
              </a:spcAft>
              <a:defRPr sz="1800">
                <a:solidFill>
                  <a:srgbClr val="111827"/>
                </a:solidFill>
                <a:latin typeface="Calibri"/>
              </a:defRPr>
            </a:pPr>
            <a:r>
              <a:t>• The penguin mascot promotes happiness, belonging, and strong school pride</a:t>
            </a:r>
          </a:p>
          <a:p>
            <a:pPr>
              <a:spcBef>
                <a:spcPts val="1000"/>
              </a:spcBef>
              <a:spcAft>
                <a:spcPts val="600"/>
              </a:spcAft>
              <a:defRPr sz="1800">
                <a:solidFill>
                  <a:srgbClr val="111827"/>
                </a:solidFill>
                <a:latin typeface="Calibri"/>
              </a:defRPr>
            </a:pPr>
            <a:r>
              <a:t>• Our branding reflects a commitment to both academic excellence and community</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Orange and yellow are proven to improve mood. Orange is another stimulating color that can trigger feelings like enthusiasm and passion. Its revitalizing nature is also said to boost the amount of oxygen that goes to your brain, making you feel vivacious.</a:t>
            </a:r>
          </a:p>
          <a:p>
            <a:br/>
            <a:pPr>
              <a:spcBef>
                <a:spcPts val="1000"/>
              </a:spcBef>
              <a:defRPr sz="1300" b="1">
                <a:solidFill>
                  <a:srgbClr val="1E3C8A"/>
                </a:solidFill>
                <a:latin typeface="Calibri"/>
              </a:defRPr>
            </a:pPr>
            <a:r>
              <a:t>— Mental Health America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Physical Architecture &amp; Design</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Campus modeled after a college with dedicated buildings for each subject area</a:t>
            </a:r>
          </a:p>
          <a:p>
            <a:pPr>
              <a:spcBef>
                <a:spcPts val="1000"/>
              </a:spcBef>
              <a:spcAft>
                <a:spcPts val="600"/>
              </a:spcAft>
              <a:defRPr sz="1800">
                <a:solidFill>
                  <a:srgbClr val="111827"/>
                </a:solidFill>
                <a:latin typeface="Calibri"/>
              </a:defRPr>
            </a:pPr>
            <a:r>
              <a:t>• Each academic discipline has its own space, promoting focused, immersive learning</a:t>
            </a:r>
          </a:p>
          <a:p>
            <a:pPr>
              <a:spcBef>
                <a:spcPts val="1000"/>
              </a:spcBef>
              <a:spcAft>
                <a:spcPts val="600"/>
              </a:spcAft>
              <a:defRPr sz="1800">
                <a:solidFill>
                  <a:srgbClr val="111827"/>
                </a:solidFill>
                <a:latin typeface="Calibri"/>
              </a:defRPr>
            </a:pPr>
            <a:r>
              <a:t>• Expansive outdoor spaces and lavish recreational facilities for student wellbeing</a:t>
            </a:r>
          </a:p>
          <a:p>
            <a:pPr>
              <a:spcBef>
                <a:spcPts val="1000"/>
              </a:spcBef>
              <a:spcAft>
                <a:spcPts val="600"/>
              </a:spcAft>
              <a:defRPr sz="1800">
                <a:solidFill>
                  <a:srgbClr val="111827"/>
                </a:solidFill>
                <a:latin typeface="Calibri"/>
              </a:defRPr>
            </a:pPr>
            <a:r>
              <a:t>• Hallways painted in bright warm colors (orange, yellow) to boost happiness</a:t>
            </a:r>
          </a:p>
          <a:p>
            <a:pPr>
              <a:spcBef>
                <a:spcPts val="1000"/>
              </a:spcBef>
              <a:spcAft>
                <a:spcPts val="600"/>
              </a:spcAft>
              <a:defRPr sz="1800">
                <a:solidFill>
                  <a:srgbClr val="111827"/>
                </a:solidFill>
                <a:latin typeface="Calibri"/>
              </a:defRPr>
            </a:pPr>
            <a:r>
              <a:t>• Classrooms feature cool colors (blue, green) for relaxation, alertness, and concentration</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Blue indicates alertness, creativity, and calm. It reduces fatigue, discomfort and depression, and helps improve memory. Green increases relaxation and concentration and reduces stress.</a:t>
            </a:r>
          </a:p>
          <a:p>
            <a:br/>
            <a:pPr>
              <a:spcBef>
                <a:spcPts val="1000"/>
              </a:spcBef>
              <a:defRPr sz="1300" b="1">
                <a:solidFill>
                  <a:srgbClr val="1E3C8A"/>
                </a:solidFill>
                <a:latin typeface="Calibri"/>
              </a:defRPr>
            </a:pPr>
            <a:r>
              <a:t>— Dopely Colors Research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Cleanliness &amp; Student Accountability</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Students complete required service hours each week as part of citizenship</a:t>
            </a:r>
          </a:p>
          <a:p>
            <a:pPr>
              <a:spcBef>
                <a:spcPts val="1000"/>
              </a:spcBef>
              <a:spcAft>
                <a:spcPts val="600"/>
              </a:spcAft>
              <a:defRPr sz="1800">
                <a:solidFill>
                  <a:srgbClr val="111827"/>
                </a:solidFill>
                <a:latin typeface="Calibri"/>
              </a:defRPr>
            </a:pPr>
            <a:r>
              <a:t>• Weekly rotating cleaning assignments ensure shared responsibility across campus</a:t>
            </a:r>
          </a:p>
          <a:p>
            <a:pPr>
              <a:spcBef>
                <a:spcPts val="1000"/>
              </a:spcBef>
              <a:spcAft>
                <a:spcPts val="600"/>
              </a:spcAft>
              <a:defRPr sz="1800">
                <a:solidFill>
                  <a:srgbClr val="111827"/>
                </a:solidFill>
                <a:latin typeface="Calibri"/>
              </a:defRPr>
            </a:pPr>
            <a:r>
              <a:t>• Each student is assigned a new area weekly to maintain variety and fairness</a:t>
            </a:r>
          </a:p>
          <a:p>
            <a:pPr>
              <a:spcBef>
                <a:spcPts val="1000"/>
              </a:spcBef>
              <a:spcAft>
                <a:spcPts val="600"/>
              </a:spcAft>
              <a:defRPr sz="1800">
                <a:solidFill>
                  <a:srgbClr val="111827"/>
                </a:solidFill>
                <a:latin typeface="Calibri"/>
              </a:defRPr>
            </a:pPr>
            <a:r>
              <a:t>• Service hours include kitchen help during themed lunch weeks</a:t>
            </a:r>
          </a:p>
          <a:p>
            <a:pPr>
              <a:spcBef>
                <a:spcPts val="1000"/>
              </a:spcBef>
              <a:spcAft>
                <a:spcPts val="600"/>
              </a:spcAft>
              <a:defRPr sz="1800">
                <a:solidFill>
                  <a:srgbClr val="111827"/>
                </a:solidFill>
                <a:latin typeface="Calibri"/>
              </a:defRPr>
            </a:pPr>
            <a:r>
              <a:t>• This system builds ownership, respect, and collective pride in our environment</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Research shows that when students actively participate in maintaining their environment, they develop stronger civic responsibility, teamwork skills, and a deeper sense of institutional pride.</a:t>
            </a:r>
          </a:p>
          <a:p>
            <a:br/>
            <a:pPr>
              <a:spcBef>
                <a:spcPts val="1000"/>
              </a:spcBef>
              <a:defRPr sz="1300" b="1">
                <a:solidFill>
                  <a:srgbClr val="1E3C8A"/>
                </a:solidFill>
                <a:latin typeface="Calibri"/>
              </a:defRPr>
            </a:pPr>
            <a:r>
              <a:t>— National Service-Learning Clearinghouse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B</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The School Day Structure</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Schedule, Blocks, and Daily Rhythm</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Daily Schedule: Times &amp; Rationale</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School Hours: 9:00 AM to 4:00 PM</a:t>
            </a:r>
          </a:p>
          <a:p>
            <a:pPr>
              <a:spcBef>
                <a:spcPts val="1000"/>
              </a:spcBef>
              <a:spcAft>
                <a:spcPts val="600"/>
              </a:spcAft>
              <a:defRPr sz="1800">
                <a:solidFill>
                  <a:srgbClr val="111827"/>
                </a:solidFill>
                <a:latin typeface="Calibri"/>
              </a:defRPr>
            </a:pPr>
            <a:r>
              <a:t>• Designed to maximize sleep and academic focus for adolescent students</a:t>
            </a:r>
          </a:p>
          <a:p>
            <a:pPr>
              <a:spcBef>
                <a:spcPts val="1000"/>
              </a:spcBef>
              <a:spcAft>
                <a:spcPts val="600"/>
              </a:spcAft>
              <a:defRPr sz="1800">
                <a:solidFill>
                  <a:srgbClr val="111827"/>
                </a:solidFill>
                <a:latin typeface="Calibri"/>
              </a:defRPr>
            </a:pPr>
            <a:r>
              <a:t>• Supports students with longer commutes or later natural bedtimes</a:t>
            </a:r>
          </a:p>
          <a:p>
            <a:pPr>
              <a:spcBef>
                <a:spcPts val="1000"/>
              </a:spcBef>
              <a:spcAft>
                <a:spcPts val="600"/>
              </a:spcAft>
              <a:defRPr sz="1800">
                <a:solidFill>
                  <a:srgbClr val="111827"/>
                </a:solidFill>
                <a:latin typeface="Calibri"/>
              </a:defRPr>
            </a:pPr>
            <a:r>
              <a:t>• Later start times correlate with better attendance, grades, and motivation</a:t>
            </a:r>
          </a:p>
          <a:p>
            <a:pPr>
              <a:spcBef>
                <a:spcPts val="1000"/>
              </a:spcBef>
              <a:spcAft>
                <a:spcPts val="600"/>
              </a:spcAft>
              <a:defRPr sz="1800">
                <a:solidFill>
                  <a:srgbClr val="111827"/>
                </a:solidFill>
                <a:latin typeface="Calibri"/>
              </a:defRPr>
            </a:pPr>
            <a:r>
              <a:t>• Extracurricular activities scheduled in mornings depending on duration</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Adolescents between the ages of 13 to 18 should sleep 8 to 10 hours per day. Pushing back start times has a direct impact on how much kids sleep, and those starting between 8:30-8:59 a.m. showed longer sleep duration and better developmental outcomes.</a:t>
            </a:r>
          </a:p>
          <a:p>
            <a:br/>
            <a:pPr>
              <a:spcBef>
                <a:spcPts val="1000"/>
              </a:spcBef>
              <a:defRPr sz="1300" b="1">
                <a:solidFill>
                  <a:srgbClr val="1E3C8A"/>
                </a:solidFill>
                <a:latin typeface="Calibri"/>
              </a:defRPr>
            </a:pPr>
            <a:r>
              <a:t>— American Academy of Sleep Medicine &amp; APA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Year-Long Block Scheduling System</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Students take 4 classes at a time, rotating daily through their schedule</a:t>
            </a:r>
          </a:p>
          <a:p>
            <a:pPr>
              <a:spcBef>
                <a:spcPts val="1000"/>
              </a:spcBef>
              <a:spcAft>
                <a:spcPts val="600"/>
              </a:spcAft>
              <a:defRPr sz="1800">
                <a:solidFill>
                  <a:srgbClr val="111827"/>
                </a:solidFill>
                <a:latin typeface="Calibri"/>
              </a:defRPr>
            </a:pPr>
            <a:r>
              <a:t>• Each class period is one hour long — optimized for retention without losing focus</a:t>
            </a:r>
          </a:p>
          <a:p>
            <a:pPr>
              <a:spcBef>
                <a:spcPts val="1000"/>
              </a:spcBef>
              <a:spcAft>
                <a:spcPts val="600"/>
              </a:spcAft>
              <a:defRPr sz="1800">
                <a:solidFill>
                  <a:srgbClr val="111827"/>
                </a:solidFill>
                <a:latin typeface="Calibri"/>
              </a:defRPr>
            </a:pPr>
            <a:r>
              <a:t>• One-hour study period built into the middle of every day for independent work</a:t>
            </a:r>
          </a:p>
          <a:p>
            <a:pPr>
              <a:spcBef>
                <a:spcPts val="1000"/>
              </a:spcBef>
              <a:spcAft>
                <a:spcPts val="600"/>
              </a:spcAft>
              <a:defRPr sz="1800">
                <a:solidFill>
                  <a:srgbClr val="111827"/>
                </a:solidFill>
                <a:latin typeface="Calibri"/>
              </a:defRPr>
            </a:pPr>
            <a:r>
              <a:t>• Year-long courses allow deeper subject mastery and stronger student-teacher relationships</a:t>
            </a:r>
          </a:p>
          <a:p>
            <a:pPr>
              <a:spcBef>
                <a:spcPts val="1000"/>
              </a:spcBef>
              <a:spcAft>
                <a:spcPts val="600"/>
              </a:spcAft>
              <a:defRPr sz="1800">
                <a:solidFill>
                  <a:srgbClr val="111827"/>
                </a:solidFill>
                <a:latin typeface="Calibri"/>
              </a:defRPr>
            </a:pPr>
            <a:r>
              <a:t>• Block scheduling reduces daily cognitive overload while maintaining academic rigor</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I would benefit if classes were 60 minutes long because I would pay closer attention to what the teacher was saying. After a while, I find the class boring and I get distracted which affects my learning.</a:t>
            </a:r>
          </a:p>
          <a:p>
            <a:br/>
            <a:pPr>
              <a:spcBef>
                <a:spcPts val="1000"/>
              </a:spcBef>
              <a:defRPr sz="1300" b="1">
                <a:solidFill>
                  <a:srgbClr val="1E3C8A"/>
                </a:solidFill>
                <a:latin typeface="Calibri"/>
              </a:defRPr>
            </a:pPr>
            <a:r>
              <a:t>— The Scroll Student Survey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Lunch Scheduling &amp; Social Dining</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Lunch is integrated into the daily study period for seamless scheduling</a:t>
            </a:r>
          </a:p>
          <a:p>
            <a:pPr>
              <a:spcBef>
                <a:spcPts val="1000"/>
              </a:spcBef>
              <a:spcAft>
                <a:spcPts val="600"/>
              </a:spcAft>
              <a:defRPr sz="1800">
                <a:solidFill>
                  <a:srgbClr val="111827"/>
                </a:solidFill>
                <a:latin typeface="Calibri"/>
              </a:defRPr>
            </a:pPr>
            <a:r>
              <a:t>• Three lunch periods: 11:30 AM, 12:00 PM, and 12:30 PM – 1:30 PM</a:t>
            </a:r>
          </a:p>
          <a:p>
            <a:pPr>
              <a:spcBef>
                <a:spcPts val="1000"/>
              </a:spcBef>
              <a:spcAft>
                <a:spcPts val="600"/>
              </a:spcAft>
              <a:defRPr sz="1800">
                <a:solidFill>
                  <a:srgbClr val="111827"/>
                </a:solidFill>
                <a:latin typeface="Calibri"/>
              </a:defRPr>
            </a:pPr>
            <a:r>
              <a:t>• Third lunch (12:30-1:30) is reserved for upperclassmen going off-campus</a:t>
            </a:r>
          </a:p>
          <a:p>
            <a:pPr>
              <a:spcBef>
                <a:spcPts val="1000"/>
              </a:spcBef>
              <a:spcAft>
                <a:spcPts val="600"/>
              </a:spcAft>
              <a:defRPr sz="1800">
                <a:solidFill>
                  <a:srgbClr val="111827"/>
                </a:solidFill>
                <a:latin typeface="Calibri"/>
              </a:defRPr>
            </a:pPr>
            <a:r>
              <a:t>• Themed lunch weeks with student volunteers helping in the kitchen (service hours)</a:t>
            </a:r>
          </a:p>
          <a:p>
            <a:pPr>
              <a:spcBef>
                <a:spcPts val="1000"/>
              </a:spcBef>
              <a:spcAft>
                <a:spcPts val="600"/>
              </a:spcAft>
              <a:defRPr sz="1800">
                <a:solidFill>
                  <a:srgbClr val="111827"/>
                </a:solidFill>
                <a:latin typeface="Calibri"/>
              </a:defRPr>
            </a:pPr>
            <a:r>
              <a:t>• Social environment features 4-top tables and a large cafeteria to promote wellbeing</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Students should get at least 20 minutes for lunch — meaning 20 minutes to actually sit down and eat. Schools that allow adequate lunch time see improvements in student behavior, concentration, and social development.</a:t>
            </a:r>
          </a:p>
          <a:p>
            <a:br/>
            <a:pPr>
              <a:spcBef>
                <a:spcPts val="1000"/>
              </a:spcBef>
              <a:defRPr sz="1300" b="1">
                <a:solidFill>
                  <a:srgbClr val="1E3C8A"/>
                </a:solidFill>
                <a:latin typeface="Calibri"/>
              </a:defRPr>
            </a:pPr>
            <a:r>
              <a:t>— CDC School Nutrition Guidelines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C</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Curriculum &amp; Academic Policy</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Requirements, Flow, and Homework Balance</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Required vs. Elective: Student Path Autonomy</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Required: College-level Math, Sciences, Social Studies, and Language courses</a:t>
            </a:r>
          </a:p>
          <a:p>
            <a:pPr>
              <a:spcBef>
                <a:spcPts val="1000"/>
              </a:spcBef>
              <a:spcAft>
                <a:spcPts val="600"/>
              </a:spcAft>
              <a:defRPr sz="1800">
                <a:solidFill>
                  <a:srgbClr val="111827"/>
                </a:solidFill>
                <a:latin typeface="Calibri"/>
              </a:defRPr>
            </a:pPr>
            <a:r>
              <a:t>• Required: 4 English courses, 3 History courses, 3 Math courses</a:t>
            </a:r>
          </a:p>
          <a:p>
            <a:pPr>
              <a:spcBef>
                <a:spcPts val="1000"/>
              </a:spcBef>
              <a:spcAft>
                <a:spcPts val="600"/>
              </a:spcAft>
              <a:defRPr sz="1800">
                <a:solidFill>
                  <a:srgbClr val="111827"/>
                </a:solidFill>
                <a:latin typeface="Calibri"/>
              </a:defRPr>
            </a:pPr>
            <a:r>
              <a:t>• Required: 1-2 Meditation elective, 1 Psychology elective, 1 PE/Health course</a:t>
            </a:r>
          </a:p>
          <a:p>
            <a:pPr>
              <a:spcBef>
                <a:spcPts val="1000"/>
              </a:spcBef>
              <a:spcAft>
                <a:spcPts val="600"/>
              </a:spcAft>
              <a:defRPr sz="1800">
                <a:solidFill>
                  <a:srgbClr val="111827"/>
                </a:solidFill>
                <a:latin typeface="Calibri"/>
              </a:defRPr>
            </a:pPr>
            <a:r>
              <a:t>• Required: Sport participation and Fine Arts course enrollment</a:t>
            </a:r>
          </a:p>
          <a:p>
            <a:pPr>
              <a:spcBef>
                <a:spcPts val="1000"/>
              </a:spcBef>
              <a:spcAft>
                <a:spcPts val="600"/>
              </a:spcAft>
              <a:defRPr sz="1800">
                <a:solidFill>
                  <a:srgbClr val="111827"/>
                </a:solidFill>
                <a:latin typeface="Calibri"/>
              </a:defRPr>
            </a:pPr>
            <a:r>
              <a:t>• Electives: Wide range of college-level standard electives chosen by student interest</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Taking a psychology class is beneficial because it's a great way to learn more about the human mind and behavior, which can serve you well at work and in life. Understanding motivation and cognition is essential for success.</a:t>
            </a:r>
          </a:p>
          <a:p>
            <a:br/>
            <a:pPr>
              <a:spcBef>
                <a:spcPts val="1000"/>
              </a:spcBef>
              <a:defRPr sz="1300" b="1">
                <a:solidFill>
                  <a:srgbClr val="1E3C8A"/>
                </a:solidFill>
                <a:latin typeface="Calibri"/>
              </a:defRPr>
            </a:pPr>
            <a:r>
              <a:t>— Verywell Mind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Incorporating Flow into the Curriculum</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Monthly counselor checkups required for all students to measure engagement</a:t>
            </a:r>
          </a:p>
          <a:p>
            <a:pPr>
              <a:spcBef>
                <a:spcPts val="1000"/>
              </a:spcBef>
              <a:spcAft>
                <a:spcPts val="600"/>
              </a:spcAft>
              <a:defRPr sz="1800">
                <a:solidFill>
                  <a:srgbClr val="111827"/>
                </a:solidFill>
                <a:latin typeface="Calibri"/>
              </a:defRPr>
            </a:pPr>
            <a:r>
              <a:t>• Project-based learning allows students to pursue deep, immersive work in areas of passion</a:t>
            </a:r>
          </a:p>
          <a:p>
            <a:pPr>
              <a:spcBef>
                <a:spcPts val="1000"/>
              </a:spcBef>
              <a:spcAft>
                <a:spcPts val="600"/>
              </a:spcAft>
              <a:defRPr sz="1800">
                <a:solidFill>
                  <a:srgbClr val="111827"/>
                </a:solidFill>
                <a:latin typeface="Calibri"/>
              </a:defRPr>
            </a:pPr>
            <a:r>
              <a:t>• Meditation and mindfulness practices prepare the mind for achieving flow states</a:t>
            </a:r>
          </a:p>
          <a:p>
            <a:pPr>
              <a:spcBef>
                <a:spcPts val="1000"/>
              </a:spcBef>
              <a:spcAft>
                <a:spcPts val="600"/>
              </a:spcAft>
              <a:defRPr sz="1800">
                <a:solidFill>
                  <a:srgbClr val="111827"/>
                </a:solidFill>
                <a:latin typeface="Calibri"/>
              </a:defRPr>
            </a:pPr>
            <a:r>
              <a:t>• Student choice in electives and long-term projects builds intrinsic motivation</a:t>
            </a:r>
          </a:p>
          <a:p>
            <a:pPr>
              <a:spcBef>
                <a:spcPts val="1000"/>
              </a:spcBef>
              <a:spcAft>
                <a:spcPts val="600"/>
              </a:spcAft>
              <a:defRPr sz="1800">
                <a:solidFill>
                  <a:srgbClr val="111827"/>
                </a:solidFill>
                <a:latin typeface="Calibri"/>
              </a:defRPr>
            </a:pPr>
            <a:r>
              <a:t>• Gratitude practices and quiet time create mental space for creative thinking</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Students who were taught meditation at school reported more positive emotions, took better care of their health, and showed reduced anxiety, stress and depression compared to peers not taught meditation.</a:t>
            </a:r>
          </a:p>
          <a:p>
            <a:br/>
            <a:pPr>
              <a:spcBef>
                <a:spcPts val="1000"/>
              </a:spcBef>
              <a:defRPr sz="1300" b="1">
                <a:solidFill>
                  <a:srgbClr val="1E3C8A"/>
                </a:solidFill>
                <a:latin typeface="Calibri"/>
              </a:defRPr>
            </a:pPr>
            <a:r>
              <a:t>— University of Melbourne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Homework Policy: Responsibility Without Burnout</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No required homework due to the already rigorous daily course load</a:t>
            </a:r>
          </a:p>
          <a:p>
            <a:pPr>
              <a:spcBef>
                <a:spcPts val="1000"/>
              </a:spcBef>
              <a:spcAft>
                <a:spcPts val="600"/>
              </a:spcAft>
              <a:defRPr sz="1800">
                <a:solidFill>
                  <a:srgbClr val="111827"/>
                </a:solidFill>
                <a:latin typeface="Calibri"/>
              </a:defRPr>
            </a:pPr>
            <a:r>
              <a:t>• Teachers must post assignments and enrichment work each school night online</a:t>
            </a:r>
          </a:p>
          <a:p>
            <a:pPr>
              <a:spcBef>
                <a:spcPts val="1000"/>
              </a:spcBef>
              <a:spcAft>
                <a:spcPts val="600"/>
              </a:spcAft>
              <a:defRPr sz="1800">
                <a:solidFill>
                  <a:srgbClr val="111827"/>
                </a:solidFill>
                <a:latin typeface="Calibri"/>
              </a:defRPr>
            </a:pPr>
            <a:r>
              <a:t>• Students are encouraged to complete work based on individual responsibility</a:t>
            </a:r>
          </a:p>
          <a:p>
            <a:pPr>
              <a:spcBef>
                <a:spcPts val="1000"/>
              </a:spcBef>
              <a:spcAft>
                <a:spcPts val="600"/>
              </a:spcAft>
              <a:defRPr sz="1800">
                <a:solidFill>
                  <a:srgbClr val="111827"/>
                </a:solidFill>
                <a:latin typeface="Calibri"/>
              </a:defRPr>
            </a:pPr>
            <a:r>
              <a:t>• Maximum 30 minutes if homework is assigned for reinforcement or practice</a:t>
            </a:r>
          </a:p>
          <a:p>
            <a:pPr>
              <a:spcBef>
                <a:spcPts val="1000"/>
              </a:spcBef>
              <a:spcAft>
                <a:spcPts val="600"/>
              </a:spcAft>
              <a:defRPr sz="1800">
                <a:solidFill>
                  <a:srgbClr val="111827"/>
                </a:solidFill>
                <a:latin typeface="Calibri"/>
              </a:defRPr>
            </a:pPr>
            <a:r>
              <a:t>• Focus on in-class mastery reduces the need for excessive after-hours work</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By limiting the amount of homework and improving the quality of assignments, you can improve learning outcomes for your students. Quality over quantity produces better retention and less student anxiety.</a:t>
            </a:r>
          </a:p>
          <a:p>
            <a:br/>
            <a:pPr>
              <a:spcBef>
                <a:spcPts val="1000"/>
              </a:spcBef>
              <a:defRPr sz="1300" b="1">
                <a:solidFill>
                  <a:srgbClr val="1E3C8A"/>
                </a:solidFill>
                <a:latin typeface="Calibri"/>
              </a:defRPr>
            </a:pPr>
            <a:r>
              <a:t>— Western Governors University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D</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Motivation &amp; Evaluation</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Grading, Discipline, and Community Honor</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Grading System: A-F Scale for Transparency &amp; Growth</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Standard A-F 100-point grade scale implemented consistently school-wide</a:t>
            </a:r>
          </a:p>
          <a:p>
            <a:pPr>
              <a:spcBef>
                <a:spcPts val="1000"/>
              </a:spcBef>
              <a:spcAft>
                <a:spcPts val="600"/>
              </a:spcAft>
              <a:defRPr sz="1800">
                <a:solidFill>
                  <a:srgbClr val="111827"/>
                </a:solidFill>
                <a:latin typeface="Calibri"/>
              </a:defRPr>
            </a:pPr>
            <a:r>
              <a:t>• Student portal allows real-time monitoring of grades and academic progress</a:t>
            </a:r>
          </a:p>
          <a:p>
            <a:pPr>
              <a:spcBef>
                <a:spcPts val="1000"/>
              </a:spcBef>
              <a:spcAft>
                <a:spcPts val="600"/>
              </a:spcAft>
              <a:defRPr sz="1800">
                <a:solidFill>
                  <a:srgbClr val="111827"/>
                </a:solidFill>
                <a:latin typeface="Calibri"/>
              </a:defRPr>
            </a:pPr>
            <a:r>
              <a:t>• Fair motivation system that makes achievement visible and attainable</a:t>
            </a:r>
          </a:p>
          <a:p>
            <a:pPr>
              <a:spcBef>
                <a:spcPts val="1000"/>
              </a:spcBef>
              <a:spcAft>
                <a:spcPts val="600"/>
              </a:spcAft>
              <a:defRPr sz="1800">
                <a:solidFill>
                  <a:srgbClr val="111827"/>
                </a:solidFill>
                <a:latin typeface="Calibri"/>
              </a:defRPr>
            </a:pPr>
            <a:r>
              <a:t>• Grades help college admissions committees assess readiness for higher education</a:t>
            </a:r>
          </a:p>
          <a:p>
            <a:pPr>
              <a:spcBef>
                <a:spcPts val="1000"/>
              </a:spcBef>
              <a:spcAft>
                <a:spcPts val="600"/>
              </a:spcAft>
              <a:defRPr sz="1800">
                <a:solidFill>
                  <a:srgbClr val="111827"/>
                </a:solidFill>
                <a:latin typeface="Calibri"/>
              </a:defRPr>
            </a:pPr>
            <a:r>
              <a:t>• Teachers can identify struggling students early and provide targeted support</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Not only does grading help college admissions committees assess who is ready for college-level academics, it also helps teachers know who needs extra help. Transparency drives improvement.</a:t>
            </a:r>
          </a:p>
          <a:p>
            <a:br/>
            <a:pPr>
              <a:spcBef>
                <a:spcPts val="1000"/>
              </a:spcBef>
              <a:defRPr sz="1300" b="1">
                <a:solidFill>
                  <a:srgbClr val="1E3C8A"/>
                </a:solidFill>
                <a:latin typeface="Calibri"/>
              </a:defRPr>
            </a:pPr>
            <a:r>
              <a:t>— University of the People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Discipline: Honor Code &amp; Restorative Practices</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A formal Honor Code is installed as a cornerstone of school culture</a:t>
            </a:r>
          </a:p>
          <a:p>
            <a:pPr>
              <a:spcBef>
                <a:spcPts val="1000"/>
              </a:spcBef>
              <a:spcAft>
                <a:spcPts val="600"/>
              </a:spcAft>
              <a:defRPr sz="1800">
                <a:solidFill>
                  <a:srgbClr val="111827"/>
                </a:solidFill>
                <a:latin typeface="Calibri"/>
              </a:defRPr>
            </a:pPr>
            <a:r>
              <a:t>• Inappropriate behavior is expected to be unusual among students who uphold integrity</a:t>
            </a:r>
          </a:p>
          <a:p>
            <a:pPr>
              <a:spcBef>
                <a:spcPts val="1000"/>
              </a:spcBef>
              <a:spcAft>
                <a:spcPts val="600"/>
              </a:spcAft>
              <a:defRPr sz="1800">
                <a:solidFill>
                  <a:srgbClr val="111827"/>
                </a:solidFill>
                <a:latin typeface="Calibri"/>
              </a:defRPr>
            </a:pPr>
            <a:r>
              <a:t>• Restorative justice approach for minor issues emphasizes learning over punishment</a:t>
            </a:r>
          </a:p>
          <a:p>
            <a:pPr>
              <a:spcBef>
                <a:spcPts val="1000"/>
              </a:spcBef>
              <a:spcAft>
                <a:spcPts val="600"/>
              </a:spcAft>
              <a:defRPr sz="1800">
                <a:solidFill>
                  <a:srgbClr val="111827"/>
                </a:solidFill>
                <a:latin typeface="Calibri"/>
              </a:defRPr>
            </a:pPr>
            <a:r>
              <a:t>• More severe consequences for cheating, bullying, or chronic skipping</a:t>
            </a:r>
          </a:p>
          <a:p>
            <a:pPr>
              <a:spcBef>
                <a:spcPts val="1000"/>
              </a:spcBef>
              <a:spcAft>
                <a:spcPts val="600"/>
              </a:spcAft>
              <a:defRPr sz="1800">
                <a:solidFill>
                  <a:srgbClr val="111827"/>
                </a:solidFill>
                <a:latin typeface="Calibri"/>
              </a:defRPr>
            </a:pPr>
            <a:r>
              <a:t>• Community accountability reinforces a culture where integrity is the norm</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Schools with strong Honor Codes report 40% fewer incidents of academic dishonesty over time, and students report feeling safer, more respected, and more academically motivated.</a:t>
            </a:r>
          </a:p>
          <a:p>
            <a:br/>
            <a:pPr>
              <a:spcBef>
                <a:spcPts val="1000"/>
              </a:spcBef>
              <a:defRPr sz="1300" b="1">
                <a:solidFill>
                  <a:srgbClr val="1E3C8A"/>
                </a:solidFill>
                <a:latin typeface="Calibri"/>
              </a:defRPr>
            </a:pPr>
            <a:r>
              <a:t>— The Center for Academic Integrity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E</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Daily Practices &amp; Support</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Wellness, Technology, and Guidance</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Daily Practices: Mindfulness &amp; Community Rituals</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Weekly debriefing assemblies every Wednesday led by the headmaster</a:t>
            </a:r>
          </a:p>
          <a:p>
            <a:pPr>
              <a:spcBef>
                <a:spcPts val="1000"/>
              </a:spcBef>
              <a:spcAft>
                <a:spcPts val="600"/>
              </a:spcAft>
              <a:defRPr sz="1800">
                <a:solidFill>
                  <a:srgbClr val="111827"/>
                </a:solidFill>
                <a:latin typeface="Calibri"/>
              </a:defRPr>
            </a:pPr>
            <a:r>
              <a:t>• Optional extended meditation and quiet time before school begins</a:t>
            </a:r>
          </a:p>
          <a:p>
            <a:pPr>
              <a:spcBef>
                <a:spcPts val="1000"/>
              </a:spcBef>
              <a:spcAft>
                <a:spcPts val="600"/>
              </a:spcAft>
              <a:defRPr sz="1800">
                <a:solidFill>
                  <a:srgbClr val="111827"/>
                </a:solidFill>
                <a:latin typeface="Calibri"/>
              </a:defRPr>
            </a:pPr>
            <a:r>
              <a:t>• Gratitude practices integrated into daily morning routines</a:t>
            </a:r>
          </a:p>
          <a:p>
            <a:pPr>
              <a:spcBef>
                <a:spcPts val="1000"/>
              </a:spcBef>
              <a:spcAft>
                <a:spcPts val="600"/>
              </a:spcAft>
              <a:defRPr sz="1800">
                <a:solidFill>
                  <a:srgbClr val="111827"/>
                </a:solidFill>
                <a:latin typeface="Calibri"/>
              </a:defRPr>
            </a:pPr>
            <a:r>
              <a:t>• Meditation electives available to teach emotional regulation skills</a:t>
            </a:r>
          </a:p>
          <a:p>
            <a:pPr>
              <a:spcBef>
                <a:spcPts val="1000"/>
              </a:spcBef>
              <a:spcAft>
                <a:spcPts val="600"/>
              </a:spcAft>
              <a:defRPr sz="1800">
                <a:solidFill>
                  <a:srgbClr val="111827"/>
                </a:solidFill>
                <a:latin typeface="Calibri"/>
              </a:defRPr>
            </a:pPr>
            <a:r>
              <a:t>• Mindfulness breaks between classes help reset attention and reduce stress</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Students who practice gratitude and mindfulness regularly show measurable improvements in emotional regulation, academic focus, and interpersonal relationships within just one semester.</a:t>
            </a:r>
          </a:p>
          <a:p>
            <a:br/>
            <a:pPr>
              <a:spcBef>
                <a:spcPts val="1000"/>
              </a:spcBef>
              <a:defRPr sz="1300" b="1">
                <a:solidFill>
                  <a:srgbClr val="1E3C8A"/>
                </a:solidFill>
                <a:latin typeface="Calibri"/>
              </a:defRPr>
            </a:pPr>
            <a:r>
              <a:t>— University of Wisconsin-Madison Center for Healthy Minds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Administration &amp; Counseling: Comprehensive Student Support</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Monthly counselor checkups required for every student without exception</a:t>
            </a:r>
          </a:p>
          <a:p>
            <a:pPr>
              <a:spcBef>
                <a:spcPts val="1000"/>
              </a:spcBef>
              <a:spcAft>
                <a:spcPts val="600"/>
              </a:spcAft>
              <a:defRPr sz="1800">
                <a:solidFill>
                  <a:srgbClr val="111827"/>
                </a:solidFill>
                <a:latin typeface="Calibri"/>
              </a:defRPr>
            </a:pPr>
            <a:r>
              <a:t>• Dedicated college prep office with weekly career path guidance meetings</a:t>
            </a:r>
          </a:p>
          <a:p>
            <a:pPr>
              <a:spcBef>
                <a:spcPts val="1000"/>
              </a:spcBef>
              <a:spcAft>
                <a:spcPts val="600"/>
              </a:spcAft>
              <a:defRPr sz="1800">
                <a:solidFill>
                  <a:srgbClr val="111827"/>
                </a:solidFill>
                <a:latin typeface="Calibri"/>
              </a:defRPr>
            </a:pPr>
            <a:r>
              <a:t>• Immediate mental health support available daily for any student in crisis</a:t>
            </a:r>
          </a:p>
          <a:p>
            <a:pPr>
              <a:spcBef>
                <a:spcPts val="1000"/>
              </a:spcBef>
              <a:spcAft>
                <a:spcPts val="600"/>
              </a:spcAft>
              <a:defRPr sz="1800">
                <a:solidFill>
                  <a:srgbClr val="111827"/>
                </a:solidFill>
                <a:latin typeface="Calibri"/>
              </a:defRPr>
            </a:pPr>
            <a:r>
              <a:t>• Proactive engagement monitoring catches issues before they escalate</a:t>
            </a:r>
          </a:p>
          <a:p>
            <a:pPr>
              <a:spcBef>
                <a:spcPts val="1000"/>
              </a:spcBef>
              <a:spcAft>
                <a:spcPts val="600"/>
              </a:spcAft>
              <a:defRPr sz="1800">
                <a:solidFill>
                  <a:srgbClr val="111827"/>
                </a:solidFill>
                <a:latin typeface="Calibri"/>
              </a:defRPr>
            </a:pPr>
            <a:r>
              <a:t>• Guidance team coordinates academic planning alongside emotional wellness</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Schools that provide proactive, regular counseling see significant improvements in student retention, graduation rates, and post-secondary enrollment compared to those with reactive-only models.</a:t>
            </a:r>
          </a:p>
          <a:p>
            <a:br/>
            <a:pPr>
              <a:spcBef>
                <a:spcPts val="1000"/>
              </a:spcBef>
              <a:defRPr sz="1300" b="1">
                <a:solidFill>
                  <a:srgbClr val="1E3C8A"/>
                </a:solidFill>
                <a:latin typeface="Calibri"/>
              </a:defRPr>
            </a:pPr>
            <a:r>
              <a:t>— American School Counselor Association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Technology Integration &amp; Digital Citizenship</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AI heavily integrated into curriculum for personalized learning paths</a:t>
            </a:r>
          </a:p>
          <a:p>
            <a:pPr>
              <a:spcBef>
                <a:spcPts val="1000"/>
              </a:spcBef>
              <a:spcAft>
                <a:spcPts val="600"/>
              </a:spcAft>
              <a:defRPr sz="1800">
                <a:solidFill>
                  <a:srgbClr val="111827"/>
                </a:solidFill>
                <a:latin typeface="Calibri"/>
              </a:defRPr>
            </a:pPr>
            <a:r>
              <a:t>• Digital literacy and AI ethics taught as core competencies across all subjects</a:t>
            </a:r>
          </a:p>
          <a:p>
            <a:pPr>
              <a:spcBef>
                <a:spcPts val="1000"/>
              </a:spcBef>
              <a:spcAft>
                <a:spcPts val="600"/>
              </a:spcAft>
              <a:defRPr sz="1800">
                <a:solidFill>
                  <a:srgbClr val="111827"/>
                </a:solidFill>
                <a:latin typeface="Calibri"/>
              </a:defRPr>
            </a:pPr>
            <a:r>
              <a:t>• Phone use permitted only during transitions, study hall, and lunch periods</a:t>
            </a:r>
          </a:p>
          <a:p>
            <a:pPr>
              <a:spcBef>
                <a:spcPts val="1000"/>
              </a:spcBef>
              <a:spcAft>
                <a:spcPts val="600"/>
              </a:spcAft>
              <a:defRPr sz="1800">
                <a:solidFill>
                  <a:srgbClr val="111827"/>
                </a:solidFill>
                <a:latin typeface="Calibri"/>
              </a:defRPr>
            </a:pPr>
            <a:r>
              <a:t>• Technology is designed to enhance — never distract from — deep learning</a:t>
            </a:r>
          </a:p>
          <a:p>
            <a:pPr>
              <a:spcBef>
                <a:spcPts val="1000"/>
              </a:spcBef>
              <a:spcAft>
                <a:spcPts val="600"/>
              </a:spcAft>
              <a:defRPr sz="1800">
                <a:solidFill>
                  <a:srgbClr val="111827"/>
                </a:solidFill>
                <a:latin typeface="Calibri"/>
              </a:defRPr>
            </a:pPr>
            <a:r>
              <a:t>• Responsible device management protects both focus and social interaction</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Students in schools with clear technology boundaries and integrated digital literacy show higher test scores, better classroom engagement, and more developed critical thinking skills.</a:t>
            </a:r>
          </a:p>
          <a:p>
            <a:br/>
            <a:pPr>
              <a:spcBef>
                <a:spcPts val="1000"/>
              </a:spcBef>
              <a:defRPr sz="1300" b="1">
                <a:solidFill>
                  <a:srgbClr val="1E3C8A"/>
                </a:solidFill>
                <a:latin typeface="Calibri"/>
              </a:defRPr>
            </a:pPr>
            <a:r>
              <a:t>— MIT Technology Review Education Research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228600" cy="6858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3657600" cy="1371600"/>
          </a:xfrm>
          <a:prstGeom prst="rect">
            <a:avLst/>
          </a:prstGeom>
          <a:noFill/>
        </p:spPr>
        <p:txBody>
          <a:bodyPr wrap="none">
            <a:spAutoFit/>
          </a:bodyPr>
          <a:lstStyle/>
          <a:p>
            <a:pPr>
              <a:defRPr sz="12000" b="1">
                <a:solidFill>
                  <a:srgbClr val="FFFFFF"/>
                </a:solidFill>
                <a:latin typeface="Calibri Light"/>
              </a:defRPr>
            </a:pPr>
            <a:r>
              <a:t>F</a:t>
            </a:r>
          </a:p>
        </p:txBody>
      </p:sp>
      <p:sp>
        <p:nvSpPr>
          <p:cNvPr id="6" name="TextBox 5"/>
          <p:cNvSpPr txBox="1"/>
          <p:nvPr/>
        </p:nvSpPr>
        <p:spPr>
          <a:xfrm>
            <a:off x="457200" y="3200400"/>
            <a:ext cx="4114800" cy="1097280"/>
          </a:xfrm>
          <a:prstGeom prst="rect">
            <a:avLst/>
          </a:prstGeom>
          <a:noFill/>
        </p:spPr>
        <p:txBody>
          <a:bodyPr wrap="square">
            <a:spAutoFit/>
          </a:bodyPr>
          <a:lstStyle/>
          <a:p>
            <a:pPr>
              <a:defRPr sz="3600" b="1">
                <a:solidFill>
                  <a:srgbClr val="FFFFFF"/>
                </a:solidFill>
                <a:latin typeface="Calibri Light"/>
              </a:defRPr>
            </a:pPr>
            <a:r>
              <a:t>Faculty &amp; Teaching</a:t>
            </a:r>
          </a:p>
        </p:txBody>
      </p:sp>
      <p:sp>
        <p:nvSpPr>
          <p:cNvPr id="7" name="TextBox 6"/>
          <p:cNvSpPr txBox="1"/>
          <p:nvPr/>
        </p:nvSpPr>
        <p:spPr>
          <a:xfrm>
            <a:off x="457200" y="4206240"/>
            <a:ext cx="4114800" cy="914400"/>
          </a:xfrm>
          <a:prstGeom prst="rect">
            <a:avLst/>
          </a:prstGeom>
          <a:noFill/>
        </p:spPr>
        <p:txBody>
          <a:bodyPr wrap="square">
            <a:spAutoFit/>
          </a:bodyPr>
          <a:lstStyle/>
          <a:p>
            <a:pPr>
              <a:defRPr sz="1800">
                <a:solidFill>
                  <a:srgbClr val="FEFCE8"/>
                </a:solidFill>
                <a:latin typeface="Calibri"/>
              </a:defRPr>
            </a:pPr>
            <a:r>
              <a:t>Qualifications, Compensation, and Excellence</a:t>
            </a:r>
          </a:p>
        </p:txBody>
      </p:sp>
      <p:sp>
        <p:nvSpPr>
          <p:cNvPr id="8" name="Rectangle 7"/>
          <p:cNvSpPr/>
          <p:nvPr/>
        </p:nvSpPr>
        <p:spPr>
          <a:xfrm>
            <a:off x="5943600" y="2286000"/>
            <a:ext cx="5486400" cy="2286000"/>
          </a:xfrm>
          <a:prstGeom prst="rect">
            <a:avLst/>
          </a:prstGeom>
          <a:solidFill>
            <a:srgbClr val="F3F4F6"/>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2743200"/>
            <a:ext cx="5120640" cy="1371600"/>
          </a:xfrm>
          <a:prstGeom prst="rect">
            <a:avLst/>
          </a:prstGeom>
          <a:noFill/>
        </p:spPr>
        <p:txBody>
          <a:bodyPr wrap="square">
            <a:spAutoFit/>
          </a:bodyPr>
          <a:lstStyle/>
          <a:p>
            <a:pPr algn="ctr">
              <a:defRPr sz="9600" b="1">
                <a:solidFill>
                  <a:srgbClr val="1E3C8A"/>
                </a:solidFill>
                <a:latin typeface="Calibri Light"/>
              </a:defRPr>
            </a:pPr>
            <a:r>
              <a:t>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Education Requirements for Faculty</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Bachelor's degree in subject area required; Master's degree strongly preferred</a:t>
            </a:r>
          </a:p>
          <a:p>
            <a:pPr>
              <a:spcBef>
                <a:spcPts val="1000"/>
              </a:spcBef>
              <a:spcAft>
                <a:spcPts val="600"/>
              </a:spcAft>
              <a:defRPr sz="1800">
                <a:solidFill>
                  <a:srgbClr val="111827"/>
                </a:solidFill>
                <a:latin typeface="Calibri"/>
              </a:defRPr>
            </a:pPr>
            <a:r>
              <a:t>• State teaching certification and subject-specific endorsements mandatory</a:t>
            </a:r>
          </a:p>
          <a:p>
            <a:pPr>
              <a:spcBef>
                <a:spcPts val="1000"/>
              </a:spcBef>
              <a:spcAft>
                <a:spcPts val="600"/>
              </a:spcAft>
              <a:defRPr sz="1800">
                <a:solidFill>
                  <a:srgbClr val="111827"/>
                </a:solidFill>
                <a:latin typeface="Calibri"/>
              </a:defRPr>
            </a:pPr>
            <a:r>
              <a:t>• Continuing professional development required annually for all faculty</a:t>
            </a:r>
          </a:p>
          <a:p>
            <a:pPr>
              <a:spcBef>
                <a:spcPts val="1000"/>
              </a:spcBef>
              <a:spcAft>
                <a:spcPts val="600"/>
              </a:spcAft>
              <a:defRPr sz="1800">
                <a:solidFill>
                  <a:srgbClr val="111827"/>
                </a:solidFill>
                <a:latin typeface="Calibri"/>
              </a:defRPr>
            </a:pPr>
            <a:r>
              <a:t>• Training in adolescent psychology and developmental neuroscience</a:t>
            </a:r>
          </a:p>
          <a:p>
            <a:pPr>
              <a:spcBef>
                <a:spcPts val="1000"/>
              </a:spcBef>
              <a:spcAft>
                <a:spcPts val="600"/>
              </a:spcAft>
              <a:defRPr sz="1800">
                <a:solidFill>
                  <a:srgbClr val="111827"/>
                </a:solidFill>
                <a:latin typeface="Calibri"/>
              </a:defRPr>
            </a:pPr>
            <a:r>
              <a:t>• Meditation and mindfulness certification to support school wellness culture</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Teachers who engage in ongoing professional development are more effective, remain in the profession longer, and produce students with consistently higher academic outcomes across all subjects.</a:t>
            </a:r>
          </a:p>
          <a:p>
            <a:br/>
            <a:pPr>
              <a:spcBef>
                <a:spcPts val="1000"/>
              </a:spcBef>
              <a:defRPr sz="1300" b="1">
                <a:solidFill>
                  <a:srgbClr val="1E3C8A"/>
                </a:solidFill>
                <a:latin typeface="Calibri"/>
              </a:defRPr>
            </a:pPr>
            <a:r>
              <a:t>— National Staff Development Council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Compensation: Performance &amp; Long-Term Value</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Competitive base salary benchmarked against top regional independent schools</a:t>
            </a:r>
          </a:p>
          <a:p>
            <a:pPr>
              <a:spcBef>
                <a:spcPts val="1000"/>
              </a:spcBef>
              <a:spcAft>
                <a:spcPts val="600"/>
              </a:spcAft>
              <a:defRPr sz="1800">
                <a:solidFill>
                  <a:srgbClr val="111827"/>
                </a:solidFill>
                <a:latin typeface="Calibri"/>
              </a:defRPr>
            </a:pPr>
            <a:r>
              <a:t>• Performance-based bonuses tied to measurable student growth and engagement</a:t>
            </a:r>
          </a:p>
          <a:p>
            <a:pPr>
              <a:spcBef>
                <a:spcPts val="1000"/>
              </a:spcBef>
              <a:spcAft>
                <a:spcPts val="600"/>
              </a:spcAft>
              <a:defRPr sz="1800">
                <a:solidFill>
                  <a:srgbClr val="111827"/>
                </a:solidFill>
                <a:latin typeface="Calibri"/>
              </a:defRPr>
            </a:pPr>
            <a:r>
              <a:t>• Annual professional development stipends for conferences and continuing education</a:t>
            </a:r>
          </a:p>
          <a:p>
            <a:pPr>
              <a:spcBef>
                <a:spcPts val="1000"/>
              </a:spcBef>
              <a:spcAft>
                <a:spcPts val="600"/>
              </a:spcAft>
              <a:defRPr sz="1800">
                <a:solidFill>
                  <a:srgbClr val="111827"/>
                </a:solidFill>
                <a:latin typeface="Calibri"/>
              </a:defRPr>
            </a:pPr>
            <a:r>
              <a:t>• Wellness benefits including mental health support and fitness memberships</a:t>
            </a:r>
          </a:p>
          <a:p>
            <a:pPr>
              <a:spcBef>
                <a:spcPts val="1000"/>
              </a:spcBef>
              <a:spcAft>
                <a:spcPts val="600"/>
              </a:spcAft>
              <a:defRPr sz="1800">
                <a:solidFill>
                  <a:srgbClr val="111827"/>
                </a:solidFill>
                <a:latin typeface="Calibri"/>
              </a:defRPr>
            </a:pPr>
            <a:r>
              <a:t>• Pay structure reflects both years of experience and demonstrated student impact</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Performance-based compensation in education, when tied to holistic student outcomes rather than test scores alone, attracts higher-quality candidates and increases long-term teacher retention.</a:t>
            </a:r>
          </a:p>
          <a:p>
            <a:br/>
            <a:pPr>
              <a:spcBef>
                <a:spcPts val="1000"/>
              </a:spcBef>
              <a:defRPr sz="1300" b="1">
                <a:solidFill>
                  <a:srgbClr val="1E3C8A"/>
                </a:solidFill>
                <a:latin typeface="Calibri"/>
              </a:defRPr>
            </a:pPr>
            <a:r>
              <a:t>— Economic Policy Institute &amp; Education Research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Extracurricular Activities &amp; Student Life</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Varied sports teams available as optional but encouraged extracurriculars</a:t>
            </a:r>
          </a:p>
          <a:p>
            <a:pPr>
              <a:spcBef>
                <a:spcPts val="1000"/>
              </a:spcBef>
              <a:spcAft>
                <a:spcPts val="600"/>
              </a:spcAft>
              <a:defRPr sz="1800">
                <a:solidFill>
                  <a:srgbClr val="111827"/>
                </a:solidFill>
                <a:latin typeface="Calibri"/>
              </a:defRPr>
            </a:pPr>
            <a:r>
              <a:t>• Wide selection of clubs and student organizations based on student interest</a:t>
            </a:r>
          </a:p>
          <a:p>
            <a:pPr>
              <a:spcBef>
                <a:spcPts val="1000"/>
              </a:spcBef>
              <a:spcAft>
                <a:spcPts val="600"/>
              </a:spcAft>
              <a:defRPr sz="1800">
                <a:solidFill>
                  <a:srgbClr val="111827"/>
                </a:solidFill>
                <a:latin typeface="Calibri"/>
              </a:defRPr>
            </a:pPr>
            <a:r>
              <a:t>• Every student is encouraged to join at least one club for social development</a:t>
            </a:r>
          </a:p>
          <a:p>
            <a:pPr>
              <a:spcBef>
                <a:spcPts val="1000"/>
              </a:spcBef>
              <a:spcAft>
                <a:spcPts val="600"/>
              </a:spcAft>
              <a:defRPr sz="1800">
                <a:solidFill>
                  <a:srgbClr val="111827"/>
                </a:solidFill>
                <a:latin typeface="Calibri"/>
              </a:defRPr>
            </a:pPr>
            <a:r>
              <a:t>• Leadership roles available through student government and club officer positions</a:t>
            </a:r>
          </a:p>
          <a:p>
            <a:pPr>
              <a:spcBef>
                <a:spcPts val="1000"/>
              </a:spcBef>
              <a:spcAft>
                <a:spcPts val="600"/>
              </a:spcAft>
              <a:defRPr sz="1800">
                <a:solidFill>
                  <a:srgbClr val="111827"/>
                </a:solidFill>
                <a:latin typeface="Calibri"/>
              </a:defRPr>
            </a:pPr>
            <a:r>
              <a:t>• Activities build communication, collaboration, and time-management skills</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You'll develop strengths and skills that could have a positive and broad impact as you enter the workplace. Employers consistently rank collaboration and leadership from extracurriculars as top hiring factors.</a:t>
            </a:r>
          </a:p>
          <a:p>
            <a:br/>
            <a:pPr>
              <a:spcBef>
                <a:spcPts val="1000"/>
              </a:spcBef>
              <a:defRPr sz="1300" b="1">
                <a:solidFill>
                  <a:srgbClr val="1E3C8A"/>
                </a:solidFill>
                <a:latin typeface="Calibri"/>
              </a:defRPr>
            </a:pPr>
            <a:r>
              <a:t>— Bentley University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280160"/>
            <a:ext cx="2743200" cy="762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74320"/>
            <a:ext cx="10972800" cy="731520"/>
          </a:xfrm>
          <a:prstGeom prst="rect">
            <a:avLst/>
          </a:prstGeom>
          <a:noFill/>
        </p:spPr>
        <p:txBody>
          <a:bodyPr wrap="square">
            <a:spAutoFit/>
          </a:bodyPr>
          <a:lstStyle/>
          <a:p>
            <a:pPr>
              <a:defRPr sz="3400" b="1">
                <a:solidFill>
                  <a:srgbClr val="FFFFFF"/>
                </a:solidFill>
                <a:latin typeface="Calibri Light"/>
              </a:defRPr>
            </a:pPr>
            <a:r>
              <a:t>Food Services: Nutrition &amp; Social Dining</a:t>
            </a:r>
          </a:p>
        </p:txBody>
      </p:sp>
      <p:sp>
        <p:nvSpPr>
          <p:cNvPr id="6" name="TextBox 5"/>
          <p:cNvSpPr txBox="1"/>
          <p:nvPr/>
        </p:nvSpPr>
        <p:spPr>
          <a:xfrm>
            <a:off x="548640" y="1645920"/>
            <a:ext cx="6217920" cy="4572000"/>
          </a:xfrm>
          <a:prstGeom prst="rect">
            <a:avLst/>
          </a:prstGeom>
          <a:noFill/>
        </p:spPr>
        <p:txBody>
          <a:bodyPr wrap="square">
            <a:spAutoFit/>
          </a:bodyPr>
          <a:lstStyle/>
          <a:p>
            <a:pPr>
              <a:spcBef>
                <a:spcPts val="1000"/>
              </a:spcBef>
              <a:spcAft>
                <a:spcPts val="600"/>
              </a:spcAft>
              <a:defRPr sz="1800">
                <a:solidFill>
                  <a:srgbClr val="111827"/>
                </a:solidFill>
                <a:latin typeface="Calibri"/>
              </a:defRPr>
            </a:pPr>
            <a:r>
              <a:t>• Nutritionally balanced meals featuring fresh salads, fruits, and whole foods</a:t>
            </a:r>
          </a:p>
          <a:p>
            <a:pPr>
              <a:spcBef>
                <a:spcPts val="1000"/>
              </a:spcBef>
              <a:spcAft>
                <a:spcPts val="600"/>
              </a:spcAft>
              <a:defRPr sz="1800">
                <a:solidFill>
                  <a:srgbClr val="111827"/>
                </a:solidFill>
                <a:latin typeface="Calibri"/>
              </a:defRPr>
            </a:pPr>
            <a:r>
              <a:t>• Separate options for dietary restrictions, allergies, and vegetarian/vegan students</a:t>
            </a:r>
          </a:p>
          <a:p>
            <a:pPr>
              <a:spcBef>
                <a:spcPts val="1000"/>
              </a:spcBef>
              <a:spcAft>
                <a:spcPts val="600"/>
              </a:spcAft>
              <a:defRPr sz="1800">
                <a:solidFill>
                  <a:srgbClr val="111827"/>
                </a:solidFill>
                <a:latin typeface="Calibri"/>
              </a:defRPr>
            </a:pPr>
            <a:r>
              <a:t>• Third lunch period (12:30-1:30 PM) allows upperclassmen off-campus privileges</a:t>
            </a:r>
          </a:p>
          <a:p>
            <a:pPr>
              <a:spcBef>
                <a:spcPts val="1000"/>
              </a:spcBef>
              <a:spcAft>
                <a:spcPts val="600"/>
              </a:spcAft>
              <a:defRPr sz="1800">
                <a:solidFill>
                  <a:srgbClr val="111827"/>
                </a:solidFill>
                <a:latin typeface="Calibri"/>
              </a:defRPr>
            </a:pPr>
            <a:r>
              <a:t>• Off-campus lunch restricted to 11th and 12th grade students only</a:t>
            </a:r>
          </a:p>
          <a:p>
            <a:pPr>
              <a:spcBef>
                <a:spcPts val="1000"/>
              </a:spcBef>
              <a:spcAft>
                <a:spcPts val="600"/>
              </a:spcAft>
              <a:defRPr sz="1800">
                <a:solidFill>
                  <a:srgbClr val="111827"/>
                </a:solidFill>
                <a:latin typeface="Calibri"/>
              </a:defRPr>
            </a:pPr>
            <a:r>
              <a:t>• Upperclassmen have adequate travel and dining time without missing class</a:t>
            </a:r>
          </a:p>
        </p:txBody>
      </p:sp>
      <p:sp>
        <p:nvSpPr>
          <p:cNvPr id="7" name="Rounded Rectangle 6"/>
          <p:cNvSpPr/>
          <p:nvPr/>
        </p:nvSpPr>
        <p:spPr>
          <a:xfrm>
            <a:off x="7132320" y="1645920"/>
            <a:ext cx="4480560" cy="4572000"/>
          </a:xfrm>
          <a:prstGeom prst="roundRect">
            <a:avLst/>
          </a:prstGeom>
          <a:solidFill>
            <a:srgbClr val="DBEAFE"/>
          </a:solidFill>
          <a:ln w="25400">
            <a:solidFill>
              <a:srgbClr val="1E3C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914400" cy="731520"/>
          </a:xfrm>
          <a:prstGeom prst="rect">
            <a:avLst/>
          </a:prstGeom>
          <a:noFill/>
        </p:spPr>
        <p:txBody>
          <a:bodyPr wrap="none">
            <a:spAutoFit/>
          </a:bodyPr>
          <a:lstStyle/>
          <a:p>
            <a:pPr>
              <a:defRPr sz="6000">
                <a:solidFill>
                  <a:srgbClr val="FB923C"/>
                </a:solidFill>
                <a:latin typeface="Georgia"/>
              </a:defRPr>
            </a:pPr>
            <a:r>
              <a:t>"</a:t>
            </a:r>
          </a:p>
        </p:txBody>
      </p:sp>
      <p:sp>
        <p:nvSpPr>
          <p:cNvPr id="9" name="TextBox 8"/>
          <p:cNvSpPr txBox="1"/>
          <p:nvPr/>
        </p:nvSpPr>
        <p:spPr>
          <a:xfrm>
            <a:off x="7498079" y="2468880"/>
            <a:ext cx="3840480" cy="3200400"/>
          </a:xfrm>
          <a:prstGeom prst="rect">
            <a:avLst/>
          </a:prstGeom>
          <a:noFill/>
        </p:spPr>
        <p:txBody>
          <a:bodyPr wrap="square">
            <a:spAutoFit/>
          </a:bodyPr>
          <a:lstStyle/>
          <a:p>
            <a:pPr>
              <a:defRPr sz="1500" i="1">
                <a:solidFill>
                  <a:srgbClr val="111827"/>
                </a:solidFill>
                <a:latin typeface="Calibri"/>
              </a:defRPr>
            </a:pPr>
            <a:r>
              <a:t>Eating a diet lacking nutrition causes the body to struggle to regulate blood glucose through insulin resistance, leading to elevated or severely low glucose levels that may contribute to anxiety.</a:t>
            </a:r>
          </a:p>
          <a:p>
            <a:br/>
            <a:pPr>
              <a:spcBef>
                <a:spcPts val="1000"/>
              </a:spcBef>
              <a:defRPr sz="1300" b="1">
                <a:solidFill>
                  <a:srgbClr val="1E3C8A"/>
                </a:solidFill>
                <a:latin typeface="Calibri"/>
              </a:defRPr>
            </a:pPr>
            <a:r>
              <a:t>— McLean Hospital Nutrition Research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3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0" y="2286000"/>
            <a:ext cx="3962095" cy="2286000"/>
          </a:xfrm>
          <a:prstGeom prst="rect">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200400" y="2286000"/>
            <a:ext cx="5790895" cy="2286000"/>
          </a:xfrm>
          <a:prstGeom prst="roundRect">
            <a:avLst/>
          </a:prstGeom>
          <a:solidFill>
            <a:srgbClr val="FFFFFF"/>
          </a:solidFill>
          <a:ln w="3810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83280" y="2560320"/>
            <a:ext cx="5486400" cy="914400"/>
          </a:xfrm>
          <a:prstGeom prst="rect">
            <a:avLst/>
          </a:prstGeom>
          <a:noFill/>
        </p:spPr>
        <p:txBody>
          <a:bodyPr wrap="none">
            <a:spAutoFit/>
          </a:bodyPr>
          <a:lstStyle/>
          <a:p>
            <a:pPr algn="ctr">
              <a:defRPr sz="4800" b="1">
                <a:solidFill>
                  <a:srgbClr val="1E3C8A"/>
                </a:solidFill>
                <a:latin typeface="Calibri Light"/>
              </a:defRPr>
            </a:pPr>
            <a:r>
              <a:t>Thank You</a:t>
            </a:r>
          </a:p>
        </p:txBody>
      </p:sp>
      <p:sp>
        <p:nvSpPr>
          <p:cNvPr id="6" name="TextBox 5"/>
          <p:cNvSpPr txBox="1"/>
          <p:nvPr/>
        </p:nvSpPr>
        <p:spPr>
          <a:xfrm>
            <a:off x="3383280" y="3383280"/>
            <a:ext cx="5486400" cy="731520"/>
          </a:xfrm>
          <a:prstGeom prst="rect">
            <a:avLst/>
          </a:prstGeom>
          <a:noFill/>
        </p:spPr>
        <p:txBody>
          <a:bodyPr wrap="none">
            <a:spAutoFit/>
          </a:bodyPr>
          <a:lstStyle/>
          <a:p>
            <a:pPr algn="ctr">
              <a:defRPr sz="2000">
                <a:solidFill>
                  <a:srgbClr val="111827"/>
                </a:solidFill>
                <a:latin typeface="Calibri"/>
              </a:defRPr>
            </a:pPr>
            <a:r>
              <a:t>Apex Academy of Preparatory Excellence</a:t>
            </a:r>
          </a:p>
        </p:txBody>
      </p:sp>
      <p:sp>
        <p:nvSpPr>
          <p:cNvPr id="7" name="TextBox 6"/>
          <p:cNvSpPr txBox="1"/>
          <p:nvPr/>
        </p:nvSpPr>
        <p:spPr>
          <a:xfrm>
            <a:off x="3383280" y="4023360"/>
            <a:ext cx="5486400" cy="457200"/>
          </a:xfrm>
          <a:prstGeom prst="rect">
            <a:avLst/>
          </a:prstGeom>
          <a:noFill/>
        </p:spPr>
        <p:txBody>
          <a:bodyPr wrap="none">
            <a:spAutoFit/>
          </a:bodyPr>
          <a:lstStyle/>
          <a:p>
            <a:pPr algn="ctr">
              <a:defRPr sz="1600" i="1">
                <a:solidFill>
                  <a:srgbClr val="FB923C"/>
                </a:solidFill>
                <a:latin typeface="Calibri"/>
              </a:defRPr>
            </a:pPr>
            <a:r>
              <a:t>Where Intelligence Meets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